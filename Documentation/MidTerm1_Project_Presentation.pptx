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640080"/>
            <a:ext cx="10728655" cy="5577840"/>
          </a:xfrm>
          <a:prstGeom prst="roundRect">
            <a:avLst/>
          </a:prstGeom>
          <a:solidFill>
            <a:srgbClr val="161E31"/>
          </a:solidFill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914400"/>
            <a:ext cx="9966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6B6D4"/>
                </a:solidFill>
              </a:defRPr>
            </a:pPr>
            <a:r>
              <a:t>MAULANA ABUL KALAM AZAD UNIVERSITY OF TECHNOLOGY (MAKAUT), WEST BENGAL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188720"/>
            <a:ext cx="9966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Department of Information Technology  |  B.Tech 7th Semester (MidTerm 1 Project Presentation)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645920"/>
            <a:ext cx="9966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</a:defRPr>
            </a:pPr>
            <a:r>
              <a:t>Homomorphic Encryption Using Quantum-dot Cellular Automata (QCA)</a:t>
            </a:r>
          </a:p>
          <a:p>
            <a:pPr>
              <a:defRPr sz="1400">
                <a:solidFill>
                  <a:srgbClr val="F59E0B"/>
                </a:solidFill>
              </a:defRPr>
            </a:pPr>
            <a:r>
              <a:t>Design, Synthesis, and Physical Simulation of Energy-Efficient Post-CMOS Cryptographic Arithmetic Accelerators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97280" y="3474720"/>
            <a:ext cx="4754880" cy="2286000"/>
          </a:xfrm>
          <a:prstGeom prst="roundRect">
            <a:avLst/>
          </a:prstGeom>
          <a:solidFill>
            <a:srgbClr val="101828"/>
          </a:solidFill>
          <a:ln w="15240">
            <a:solidFill>
              <a:srgbClr val="263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80160" y="3566160"/>
            <a:ext cx="43891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STUDENT INVESTIGATORS:</a:t>
            </a:r>
          </a:p>
          <a:p>
            <a:pPr>
              <a:defRPr sz="1000">
                <a:solidFill>
                  <a:srgbClr val="E2E8F0"/>
                </a:solidFill>
              </a:defRPr>
            </a:pPr>
            <a:r>
              <a:t>•  Subhadip Dutta — B.Tech Information Technology (7th Semester)</a:t>
            </a:r>
          </a:p>
          <a:p>
            <a:pPr>
              <a:defRPr sz="1000">
                <a:solidFill>
                  <a:srgbClr val="E2E8F0"/>
                </a:solidFill>
              </a:defRPr>
            </a:pPr>
            <a:r>
              <a:t>•  SK Mimraj — B.Tech Information Technology (7th Semester)</a:t>
            </a:r>
          </a:p>
          <a:p>
            <a:pPr>
              <a:defRPr sz="1000">
                <a:solidFill>
                  <a:srgbClr val="E2E8F0"/>
                </a:solidFill>
              </a:defRPr>
            </a:pPr>
            <a:r>
              <a:t>•  Date of Examination: — 24th September 2026 (11:00 AM onwards)</a:t>
            </a:r>
          </a:p>
          <a:p>
            <a:pPr>
              <a:defRPr sz="1000">
                <a:solidFill>
                  <a:srgbClr val="E2E8F0"/>
                </a:solidFill>
              </a:defRPr>
            </a:pPr>
            <a:r>
              <a:t>•  Presentation Mode: — MidTerm 1 Progress Review &amp; Project Diary Inspection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3474720"/>
            <a:ext cx="4937760" cy="2286000"/>
          </a:xfrm>
          <a:prstGeom prst="roundRect">
            <a:avLst/>
          </a:prstGeom>
          <a:solidFill>
            <a:srgbClr val="101828"/>
          </a:solidFill>
          <a:ln w="15240">
            <a:solidFill>
              <a:srgbClr val="263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0" y="3566160"/>
            <a:ext cx="45720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PROJECT SUPERVISOR &amp; EVALUATION PANEL:</a:t>
            </a:r>
          </a:p>
          <a:p>
            <a:pPr>
              <a:defRPr sz="1000">
                <a:solidFill>
                  <a:srgbClr val="E2E8F0"/>
                </a:solidFill>
              </a:defRPr>
            </a:pPr>
            <a:r>
              <a:t>•  Under Guidance of: Dr. Jadav Chandra Das</a:t>
            </a:r>
          </a:p>
          <a:p>
            <a:pPr>
              <a:defRPr sz="1000">
                <a:solidFill>
                  <a:srgbClr val="E2E8F0"/>
                </a:solidFill>
              </a:defRPr>
            </a:pPr>
            <a:r>
              <a:t>•  Department: Department of Information Technology, MAKAUT</a:t>
            </a:r>
          </a:p>
          <a:p>
            <a:pPr>
              <a:defRPr sz="1000">
                <a:solidFill>
                  <a:srgbClr val="E2E8F0"/>
                </a:solidFill>
              </a:defRPr>
            </a:pPr>
            <a:r>
              <a:t>•  Evaluation Panel: MidTerm 1 Committee (Panel 1: Room 324 / Panel 2: Room 326)</a:t>
            </a:r>
          </a:p>
          <a:p>
            <a:pPr>
              <a:defRPr sz="1000">
                <a:solidFill>
                  <a:srgbClr val="E2E8F0"/>
                </a:solidFill>
              </a:defRPr>
            </a:pPr>
            <a:r>
              <a:t>•  Deliverables: 11 QCA Layouts, Python HE Demo, 82 Tests, Project Diary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</a:defRPr>
            </a:pPr>
            <a:r>
              <a:t>MIDTERM 1 EVALUATION | B.TECH (IT) 7TH SEM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Project Motivation: The Homomorphic Computing Bottleneck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5120640" cy="5029200"/>
          </a:xfrm>
          <a:prstGeom prst="roundRect">
            <a:avLst/>
          </a:prstGeom>
          <a:solidFill>
            <a:srgbClr val="161E31"/>
          </a:solidFill>
          <a:ln w="15240">
            <a:solidFill>
              <a:srgbClr val="263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463040"/>
            <a:ext cx="47548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6B6D4"/>
                </a:solidFill>
              </a:defRPr>
            </a:pPr>
            <a:r>
              <a:t>The Promise &amp; Challenge of Homomorphic Encryption</a:t>
            </a:r>
          </a:p>
          <a:p>
            <a:pPr>
              <a:defRPr sz="1100">
                <a:solidFill>
                  <a:srgbClr val="E2E8F0"/>
                </a:solidFill>
              </a:defRPr>
            </a:pPr>
            <a:r>
              <a:t>• Zero-Exposure Cloud Computing: Allows computing directly over encrypted data without decryption: D(E(m1) * E(m2)) = m1 + m2.</a:t>
            </a:r>
          </a:p>
          <a:p>
            <a:pPr>
              <a:defRPr sz="1100">
                <a:solidFill>
                  <a:srgbClr val="E2E8F0"/>
                </a:solidFill>
              </a:defRPr>
            </a:pPr>
            <a:r>
              <a:t>• Massive Ciphertext Expansion: Plaintext operands expand by 10x to 1000x, demanding arithmetic over 2048-bit to 4096-bit numbers.</a:t>
            </a:r>
          </a:p>
          <a:p>
            <a:pPr>
              <a:defRPr sz="1100">
                <a:solidFill>
                  <a:srgbClr val="E2E8F0"/>
                </a:solidFill>
              </a:defRPr>
            </a:pPr>
            <a:r>
              <a:t>• CMOS Thermodynamic Wall: Below 3 nm, subthreshold leakage (I_leak) and static dissipation cause severe thermal throttling.</a:t>
            </a:r>
          </a:p>
          <a:p>
            <a:pPr>
              <a:defRPr sz="1100">
                <a:solidFill>
                  <a:srgbClr val="E2E8F0"/>
                </a:solidFill>
              </a:defRPr>
            </a:pPr>
            <a:r>
              <a:t>• The Energy Bottleneck: Cloud HE servers consume kilowatts per query, rendering large-scale privacy-preserving AI unsustainable in silicon.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280160"/>
            <a:ext cx="5212080" cy="5029200"/>
          </a:xfrm>
          <a:prstGeom prst="roundRect">
            <a:avLst/>
          </a:prstGeom>
          <a:solidFill>
            <a:srgbClr val="161E31"/>
          </a:solidFill>
          <a:ln w="15240">
            <a:solidFill>
              <a:srgbClr val="263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463040"/>
            <a:ext cx="4846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0B981"/>
                </a:solidFill>
              </a:defRPr>
            </a:pPr>
            <a:r>
              <a:t>The Post-CMOS Solution: Quantum-dot Cellular Automata</a:t>
            </a:r>
          </a:p>
          <a:p>
            <a:pPr>
              <a:defRPr sz="1100">
                <a:solidFill>
                  <a:srgbClr val="E2E8F0"/>
                </a:solidFill>
              </a:defRPr>
            </a:pPr>
            <a:r>
              <a:t>• Coulombic Information Encoding: No electrical currents! Logic states 0 and 1 are encoded by the diagonal electrostatic polarization of 2 electrons.</a:t>
            </a:r>
          </a:p>
          <a:p>
            <a:pPr>
              <a:defRPr sz="1100">
                <a:solidFill>
                  <a:srgbClr val="E2E8F0"/>
                </a:solidFill>
              </a:defRPr>
            </a:pPr>
            <a:r>
              <a:t>• Sub-Femtojoule Switching: Static power dissipation is zero in hold phase. Power is consumed only during adiabatic clock transitions.</a:t>
            </a:r>
          </a:p>
          <a:p>
            <a:pPr>
              <a:defRPr sz="1100">
                <a:solidFill>
                  <a:srgbClr val="E2E8F0"/>
                </a:solidFill>
              </a:defRPr>
            </a:pPr>
            <a:r>
              <a:t>• Nanoscale Density: 18 nm x 18 nm cells yield functional packing densities exceeding 10^11 cells/cm^2 with THz potential.</a:t>
            </a:r>
          </a:p>
          <a:p>
            <a:pPr>
              <a:defRPr sz="1100">
                <a:solidFill>
                  <a:srgbClr val="E2E8F0"/>
                </a:solidFill>
              </a:defRPr>
            </a:pPr>
            <a:r>
              <a:t>• Project Objective: Design, simulate, and benchmark a complete hardware arithmetic library in QCA tailored for homomorphic ciphertext processing.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</a:defRPr>
            </a:pPr>
            <a:r>
              <a:t>MIDTERM 1 EVALUATION | B.TECH (IT) 7TH SEM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Quantum-dot Cellular Automata (QCA) Operating Principles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3291840" cy="5029200"/>
          </a:xfrm>
          <a:prstGeom prst="roundRect">
            <a:avLst/>
          </a:prstGeom>
          <a:solidFill>
            <a:srgbClr val="161E31"/>
          </a:solidFill>
          <a:ln w="15240">
            <a:solidFill>
              <a:srgbClr val="263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463040"/>
            <a:ext cx="29260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6B6D4"/>
                </a:solidFill>
              </a:defRPr>
            </a:pPr>
            <a:r>
              <a:t>1. Nanoscale Cell Structure</a:t>
            </a:r>
          </a:p>
          <a:p>
            <a:pPr>
              <a:defRPr sz="1100">
                <a:solidFill>
                  <a:srgbClr val="E2E8F0"/>
                </a:solidFill>
              </a:defRPr>
            </a:pPr>
            <a:r>
              <a:t>• Four Quantum Dots: Arranged at corners of 18 nm square cell.</a:t>
            </a:r>
          </a:p>
          <a:p>
            <a:pPr>
              <a:defRPr sz="1100">
                <a:solidFill>
                  <a:srgbClr val="E2E8F0"/>
                </a:solidFill>
              </a:defRPr>
            </a:pPr>
            <a:r>
              <a:t>• Two Free Electrons: Tunnel between dots via quantum tunneling.</a:t>
            </a:r>
          </a:p>
          <a:p>
            <a:pPr>
              <a:defRPr sz="1100">
                <a:solidFill>
                  <a:srgbClr val="E2E8F0"/>
                </a:solidFill>
              </a:defRPr>
            </a:pPr>
            <a:r>
              <a:t>• Coulombic Repulsion: Forces electrons into opposite corners.</a:t>
            </a:r>
          </a:p>
          <a:p>
            <a:pPr>
              <a:defRPr sz="1100">
                <a:solidFill>
                  <a:srgbClr val="E2E8F0"/>
                </a:solidFill>
              </a:defRPr>
            </a:pPr>
            <a:r>
              <a:t>• Polarization States: P = -1.00 (Logic 0)</a:t>
            </a:r>
            <a:br/>
            <a:r>
              <a:t>P = +1.00 (Logic 1)</a:t>
            </a:r>
          </a:p>
          <a:p>
            <a:pPr>
              <a:defRPr sz="1100">
                <a:solidFill>
                  <a:srgbClr val="E2E8F0"/>
                </a:solidFill>
              </a:defRPr>
            </a:pPr>
            <a:r>
              <a:t>• Zero Static Current: Energy stored electrostatically, not dynamically dissipated.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280160"/>
            <a:ext cx="3383280" cy="5029200"/>
          </a:xfrm>
          <a:prstGeom prst="roundRect">
            <a:avLst/>
          </a:prstGeom>
          <a:solidFill>
            <a:srgbClr val="161E31"/>
          </a:solidFill>
          <a:ln w="15240">
            <a:solidFill>
              <a:srgbClr val="263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463040"/>
            <a:ext cx="3017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0B981"/>
                </a:solidFill>
              </a:defRPr>
            </a:pPr>
            <a:r>
              <a:t>2. 4-Phase Adiabatic Clocking</a:t>
            </a:r>
          </a:p>
          <a:p>
            <a:pPr>
              <a:defRPr sz="1100">
                <a:solidFill>
                  <a:srgbClr val="E2E8F0"/>
                </a:solidFill>
              </a:defRPr>
            </a:pPr>
            <a:r>
              <a:t>• Switch Phase (0°): Potential barriers raised; cell polarizes according to neighbors.</a:t>
            </a:r>
          </a:p>
          <a:p>
            <a:pPr>
              <a:defRPr sz="1100">
                <a:solidFill>
                  <a:srgbClr val="E2E8F0"/>
                </a:solidFill>
              </a:defRPr>
            </a:pPr>
            <a:r>
              <a:t>• Hold Phase (90°): Barriers held high; stable output state acts as input to next stage.</a:t>
            </a:r>
          </a:p>
          <a:p>
            <a:pPr>
              <a:defRPr sz="1100">
                <a:solidFill>
                  <a:srgbClr val="E2E8F0"/>
                </a:solidFill>
              </a:defRPr>
            </a:pPr>
            <a:r>
              <a:t>• Release Phase (180°): Barriers lowered; cell unpolarizes to neutral ground state.</a:t>
            </a:r>
          </a:p>
          <a:p>
            <a:pPr>
              <a:defRPr sz="1100">
                <a:solidFill>
                  <a:srgbClr val="E2E8F0"/>
                </a:solidFill>
              </a:defRPr>
            </a:pPr>
            <a:r>
              <a:t>• Relax Phase (270°): Barriers kept low; cell remains unpolarized, eliminating memory effects.</a:t>
            </a:r>
          </a:p>
          <a:p>
            <a:pPr>
              <a:defRPr sz="1100">
                <a:solidFill>
                  <a:srgbClr val="E2E8F0"/>
                </a:solidFill>
              </a:defRPr>
            </a:pPr>
            <a:r>
              <a:t>• Pipelined Flow: Enables smooth unidirectional signal propagation without back-reflections.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38160" y="1280160"/>
            <a:ext cx="3291840" cy="5029200"/>
          </a:xfrm>
          <a:prstGeom prst="roundRect">
            <a:avLst/>
          </a:prstGeom>
          <a:solidFill>
            <a:srgbClr val="161E31"/>
          </a:solidFill>
          <a:ln w="15240">
            <a:solidFill>
              <a:srgbClr val="263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21040" y="1463040"/>
            <a:ext cx="29260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59E0B"/>
                </a:solidFill>
              </a:defRPr>
            </a:pPr>
            <a:r>
              <a:t>3. Core Logic Primitives</a:t>
            </a:r>
          </a:p>
          <a:p>
            <a:pPr>
              <a:defRPr sz="1100">
                <a:solidFill>
                  <a:srgbClr val="E2E8F0"/>
                </a:solidFill>
              </a:defRPr>
            </a:pPr>
            <a:r>
              <a:t>• Majority Voter (MV): M(A, B, C) = AB + BC + AC (Canonical 5-cell primitive).</a:t>
            </a:r>
          </a:p>
          <a:p>
            <a:pPr>
              <a:defRPr sz="1100">
                <a:solidFill>
                  <a:srgbClr val="E2E8F0"/>
                </a:solidFill>
              </a:defRPr>
            </a:pPr>
            <a:r>
              <a:t>• Programmable AND: M(A, B, -1.00) = A · B.</a:t>
            </a:r>
          </a:p>
          <a:p>
            <a:pPr>
              <a:defRPr sz="1100">
                <a:solidFill>
                  <a:srgbClr val="E2E8F0"/>
                </a:solidFill>
              </a:defRPr>
            </a:pPr>
            <a:r>
              <a:t>• Programmable OR: M(A, B, +1.00) = A + B.</a:t>
            </a:r>
          </a:p>
          <a:p>
            <a:pPr>
              <a:defRPr sz="1100">
                <a:solidFill>
                  <a:srgbClr val="E2E8F0"/>
                </a:solidFill>
              </a:defRPr>
            </a:pPr>
            <a:r>
              <a:t>• Diagonal Inverter: 45° electrostatic anti-phase coupling inverts signal without majority voter.</a:t>
            </a:r>
          </a:p>
          <a:p>
            <a:pPr>
              <a:defRPr sz="1100">
                <a:solidFill>
                  <a:srgbClr val="E2E8F0"/>
                </a:solidFill>
              </a:defRPr>
            </a:pPr>
            <a:r>
              <a:t>• Universal Library: AND, OR, NOT, NAND, NOR synthesized with zero transistor overhead.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</a:defRPr>
            </a:pPr>
            <a:r>
              <a:t>MIDTERM 1 EVALUATION | B.TECH (IT) 7TH SEM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Six-Layer Architectural Bridge: From HE Down to QCA Cells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10728655" cy="777240"/>
          </a:xfrm>
          <a:prstGeom prst="roundRect">
            <a:avLst/>
          </a:prstGeom>
          <a:solidFill>
            <a:srgbClr val="161E31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325880"/>
            <a:ext cx="10332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59E0B"/>
                </a:solidFill>
              </a:defRPr>
            </a:pPr>
            <a:r>
              <a:t>Layer 6: Cryptographic Application</a:t>
            </a:r>
          </a:p>
          <a:p>
            <a:pPr>
              <a:defRPr sz="1050">
                <a:solidFill>
                  <a:srgbClr val="E2E8F0"/>
                </a:solidFill>
              </a:defRPr>
            </a:pPr>
            <a:r>
              <a:t>Private Cloud Query, Encrypted Database Aggregation, Privacy-Preserving Machine Learning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148839"/>
            <a:ext cx="10728655" cy="777240"/>
          </a:xfrm>
          <a:prstGeom prst="roundRect">
            <a:avLst/>
          </a:prstGeom>
          <a:solidFill>
            <a:srgbClr val="161E31"/>
          </a:solidFill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194559"/>
            <a:ext cx="10332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6B6D4"/>
                </a:solidFill>
              </a:defRPr>
            </a:pPr>
            <a:r>
              <a:t>Layer 5: Homomorphic Scheme</a:t>
            </a:r>
          </a:p>
          <a:p>
            <a:pPr>
              <a:defRPr sz="1050">
                <a:solidFill>
                  <a:srgbClr val="E2E8F0"/>
                </a:solidFill>
              </a:defRPr>
            </a:pPr>
            <a:r>
              <a:t>Paillier Additive Homomorphism (D(c1*c2) = m1+m2), RSA Multiplicative, Ring-LWE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017520"/>
            <a:ext cx="10728655" cy="777240"/>
          </a:xfrm>
          <a:prstGeom prst="roundRect">
            <a:avLst/>
          </a:prstGeom>
          <a:solidFill>
            <a:srgbClr val="161E31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063239"/>
            <a:ext cx="10332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B981"/>
                </a:solidFill>
              </a:defRPr>
            </a:pPr>
            <a:r>
              <a:t>Layer 4: Residue Number System (RNS)</a:t>
            </a:r>
          </a:p>
          <a:p>
            <a:pPr>
              <a:defRPr sz="1050">
                <a:solidFill>
                  <a:srgbClr val="E2E8F0"/>
                </a:solidFill>
              </a:defRPr>
            </a:pPr>
            <a:r>
              <a:t>Chinese Remainder Theorem (CRT) channels: decomposes multi-thousand-bit words into parallel channels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886200"/>
            <a:ext cx="10728655" cy="777240"/>
          </a:xfrm>
          <a:prstGeom prst="roundRect">
            <a:avLst/>
          </a:prstGeom>
          <a:solidFill>
            <a:srgbClr val="161E31"/>
          </a:solidFill>
          <a:ln w="15240"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931920"/>
            <a:ext cx="10332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8FAFC"/>
                </a:solidFill>
              </a:defRPr>
            </a:pPr>
            <a:r>
              <a:t>Layer 3: Binary Word Arithmetic</a:t>
            </a:r>
          </a:p>
          <a:p>
            <a:pPr>
              <a:defRPr sz="1050">
                <a:solidFill>
                  <a:srgbClr val="E2E8F0"/>
                </a:solidFill>
              </a:defRPr>
            </a:pPr>
            <a:r>
              <a:t>Multi-bit ripple carry addition, carry-save accumulation, partial-product word trees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754880"/>
            <a:ext cx="10728655" cy="777240"/>
          </a:xfrm>
          <a:prstGeom prst="roundRect">
            <a:avLst/>
          </a:prstGeom>
          <a:solidFill>
            <a:srgbClr val="161E31"/>
          </a:solidFill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4800600"/>
            <a:ext cx="10332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6B6D4"/>
                </a:solidFill>
              </a:defRPr>
            </a:pPr>
            <a:r>
              <a:t>Layer 2: QCA Arithmetic Macro-Modules</a:t>
            </a:r>
          </a:p>
          <a:p>
            <a:pPr>
              <a:defRPr sz="1050">
                <a:solidFill>
                  <a:srgbClr val="E2E8F0"/>
                </a:solidFill>
              </a:defRPr>
            </a:pPr>
            <a:r>
              <a:t>2x2 Multiplier (Multiplier_2x2.qca), 4-Bit RCA (RCA_4bit.qca), Modulo-4 Adder (Modular_Adder.qca)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5623560"/>
            <a:ext cx="10728655" cy="777240"/>
          </a:xfrm>
          <a:prstGeom prst="roundRect">
            <a:avLst/>
          </a:prstGeom>
          <a:solidFill>
            <a:srgbClr val="161E31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5669280"/>
            <a:ext cx="10332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B981"/>
                </a:solidFill>
              </a:defRPr>
            </a:pPr>
            <a:r>
              <a:t>Layer 1: Physical QCA Nanostructures</a:t>
            </a:r>
          </a:p>
          <a:p>
            <a:pPr>
              <a:defRPr sz="1050">
                <a:solidFill>
                  <a:srgbClr val="E2E8F0"/>
                </a:solidFill>
              </a:defRPr>
            </a:pPr>
            <a:r>
              <a:t>18 nm x 18 nm cells, 4-dot GaAs/AlGaAs bistable quantum dots, 4-phase adiabatic clock zones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</a:defRPr>
            </a:pPr>
            <a:r>
              <a:t>MIDTERM 1 EVALUATION | B.TECH (IT) 7TH SEM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Synthesized QCA Logic Primitives: AND, OR, NOT, NAND, NOR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2011680" cy="5029200"/>
          </a:xfrm>
          <a:prstGeom prst="roundRect">
            <a:avLst/>
          </a:prstGeom>
          <a:solidFill>
            <a:srgbClr val="161E31"/>
          </a:solidFill>
          <a:ln w="15240">
            <a:solidFill>
              <a:srgbClr val="263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37160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6B6D4"/>
                </a:solidFill>
              </a:defRPr>
            </a:pPr>
            <a:r>
              <a:t>AND Gate</a:t>
            </a:r>
          </a:p>
          <a:p>
            <a:pPr>
              <a:defRPr sz="900">
                <a:solidFill>
                  <a:srgbClr val="F59E0B"/>
                </a:solidFill>
              </a:defRPr>
            </a:pPr>
            <a:r>
              <a:t>5 Cells | 0.0034 µm² | 0.25 Cyc</a:t>
            </a:r>
          </a:p>
        </p:txBody>
      </p:sp>
      <p:pic>
        <p:nvPicPr>
          <p:cNvPr id="7" name="Picture 6" descr="AND_layo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2286000"/>
            <a:ext cx="1737360" cy="17373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22960" y="4389120"/>
            <a:ext cx="18288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E2E8F0"/>
                </a:solidFill>
              </a:defRPr>
            </a:pPr>
            <a:r>
              <a:t>• M(A, B, -1.00)</a:t>
            </a:r>
            <a:br/>
            <a:r>
              <a:t>• Fixed -1.00 bias</a:t>
            </a:r>
            <a:br/>
            <a:r>
              <a:t>• Standard 20 nm pitch</a:t>
            </a:r>
            <a:br/>
            <a:r>
              <a:t>• Verified 100% truth table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926080" y="1280160"/>
            <a:ext cx="2011680" cy="5029200"/>
          </a:xfrm>
          <a:prstGeom prst="roundRect">
            <a:avLst/>
          </a:prstGeom>
          <a:solidFill>
            <a:srgbClr val="161E31"/>
          </a:solidFill>
          <a:ln w="15240">
            <a:solidFill>
              <a:srgbClr val="263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17520" y="137160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6B6D4"/>
                </a:solidFill>
              </a:defRPr>
            </a:pPr>
            <a:r>
              <a:t>OR Gate</a:t>
            </a:r>
          </a:p>
          <a:p>
            <a:pPr>
              <a:defRPr sz="900">
                <a:solidFill>
                  <a:srgbClr val="F59E0B"/>
                </a:solidFill>
              </a:defRPr>
            </a:pPr>
            <a:r>
              <a:t>5 Cells | 0.0034 µm² | 0.25 Cyc</a:t>
            </a:r>
          </a:p>
        </p:txBody>
      </p:sp>
      <p:pic>
        <p:nvPicPr>
          <p:cNvPr id="11" name="Picture 10" descr="OR_layou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63240" y="2286000"/>
            <a:ext cx="1737360" cy="173736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3017520" y="4389120"/>
            <a:ext cx="18288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E2E8F0"/>
                </a:solidFill>
              </a:defRPr>
            </a:pPr>
            <a:r>
              <a:t>• M(A, B, +1.00)</a:t>
            </a:r>
            <a:br/>
            <a:r>
              <a:t>• Fixed +1.00 bias</a:t>
            </a:r>
            <a:br/>
            <a:r>
              <a:t>• Standard 20 nm pitch</a:t>
            </a:r>
            <a:br/>
            <a:r>
              <a:t>• Verified 100% truth table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120640" y="1280160"/>
            <a:ext cx="2011680" cy="5029200"/>
          </a:xfrm>
          <a:prstGeom prst="roundRect">
            <a:avLst/>
          </a:prstGeom>
          <a:solidFill>
            <a:srgbClr val="161E31"/>
          </a:solidFill>
          <a:ln w="15240">
            <a:solidFill>
              <a:srgbClr val="263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12079" y="137160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6B6D4"/>
                </a:solidFill>
              </a:defRPr>
            </a:pPr>
            <a:r>
              <a:t>NOT Gate</a:t>
            </a:r>
          </a:p>
          <a:p>
            <a:pPr>
              <a:defRPr sz="900">
                <a:solidFill>
                  <a:srgbClr val="F59E0B"/>
                </a:solidFill>
              </a:defRPr>
            </a:pPr>
            <a:r>
              <a:t>4 Cells | 0.0030 µm² | 0.25 Cyc</a:t>
            </a:r>
          </a:p>
        </p:txBody>
      </p:sp>
      <p:pic>
        <p:nvPicPr>
          <p:cNvPr id="15" name="Picture 14" descr="NOT_layou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57800" y="2286000"/>
            <a:ext cx="1737360" cy="1328569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212079" y="4389120"/>
            <a:ext cx="18288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E2E8F0"/>
                </a:solidFill>
              </a:defRPr>
            </a:pPr>
            <a:r>
              <a:t>• 45° diagonal offset</a:t>
            </a:r>
            <a:br/>
            <a:r>
              <a:t>• Anti-phase coupling</a:t>
            </a:r>
            <a:br/>
            <a:r>
              <a:t>• No majority voter needed</a:t>
            </a:r>
            <a:br/>
            <a:r>
              <a:t>• High noise margin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0" y="1280160"/>
            <a:ext cx="2011680" cy="5029200"/>
          </a:xfrm>
          <a:prstGeom prst="roundRect">
            <a:avLst/>
          </a:prstGeom>
          <a:solidFill>
            <a:srgbClr val="161E31"/>
          </a:solidFill>
          <a:ln w="15240">
            <a:solidFill>
              <a:srgbClr val="263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06640" y="137160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6B6D4"/>
                </a:solidFill>
              </a:defRPr>
            </a:pPr>
            <a:r>
              <a:t>NAND Gate</a:t>
            </a:r>
          </a:p>
          <a:p>
            <a:pPr>
              <a:defRPr sz="900">
                <a:solidFill>
                  <a:srgbClr val="F59E0B"/>
                </a:solidFill>
              </a:defRPr>
            </a:pPr>
            <a:r>
              <a:t>7 Cells | 0.0057 µm² | 0.50 Cyc</a:t>
            </a:r>
          </a:p>
        </p:txBody>
      </p:sp>
      <p:pic>
        <p:nvPicPr>
          <p:cNvPr id="19" name="Picture 18" descr="NAND_layou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52360" y="2286000"/>
            <a:ext cx="1737360" cy="137160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7406640" y="4389120"/>
            <a:ext cx="18288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E2E8F0"/>
                </a:solidFill>
              </a:defRPr>
            </a:pPr>
            <a:r>
              <a:t>• M(A, B, -1.00)</a:t>
            </a:r>
            <a:br/>
            <a:r>
              <a:t>• Fixed -1.00 bias</a:t>
            </a:r>
            <a:br/>
            <a:r>
              <a:t>• Standard 20 nm pitch</a:t>
            </a:r>
            <a:br/>
            <a:r>
              <a:t>• Verified 100% truth table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509760" y="1280160"/>
            <a:ext cx="2011680" cy="5029200"/>
          </a:xfrm>
          <a:prstGeom prst="roundRect">
            <a:avLst/>
          </a:prstGeom>
          <a:solidFill>
            <a:srgbClr val="161E31"/>
          </a:solidFill>
          <a:ln w="15240">
            <a:solidFill>
              <a:srgbClr val="263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01200" y="137160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6B6D4"/>
                </a:solidFill>
              </a:defRPr>
            </a:pPr>
            <a:r>
              <a:t>NOR Gate</a:t>
            </a:r>
          </a:p>
          <a:p>
            <a:pPr>
              <a:defRPr sz="900">
                <a:solidFill>
                  <a:srgbClr val="F59E0B"/>
                </a:solidFill>
              </a:defRPr>
            </a:pPr>
            <a:r>
              <a:t>7 Cells | 0.0057 µm² | 0.50 Cyc</a:t>
            </a:r>
          </a:p>
        </p:txBody>
      </p:sp>
      <p:pic>
        <p:nvPicPr>
          <p:cNvPr id="23" name="Picture 22" descr="NOR_layou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46920" y="2286000"/>
            <a:ext cx="1737360" cy="137160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9601200" y="4389120"/>
            <a:ext cx="18288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E2E8F0"/>
                </a:solidFill>
              </a:defRPr>
            </a:pPr>
            <a:r>
              <a:t>• M(A, B, +1.00)</a:t>
            </a:r>
            <a:br/>
            <a:r>
              <a:t>• Fixed +1.00 bias</a:t>
            </a:r>
            <a:br/>
            <a:r>
              <a:t>• Standard 20 nm pitch</a:t>
            </a:r>
            <a:br/>
            <a:r>
              <a:t>• Verified 100% truth table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</a:defRPr>
            </a:pPr>
            <a:r>
              <a:t>MIDTERM 1 EVALUATION | B.TECH (IT) 7TH SEM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Advanced Logic: Dual-Rail Pipelined XOR Gate (XOR.qca)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5486400" cy="5029200"/>
          </a:xfrm>
          <a:prstGeom prst="roundRect">
            <a:avLst/>
          </a:prstGeom>
          <a:solidFill>
            <a:srgbClr val="161E31"/>
          </a:solidFill>
          <a:ln w="15240">
            <a:solidFill>
              <a:srgbClr val="263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XOR_layo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463040"/>
            <a:ext cx="5120640" cy="343374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492240" y="1280160"/>
            <a:ext cx="4937760" cy="5029200"/>
          </a:xfrm>
          <a:prstGeom prst="roundRect">
            <a:avLst/>
          </a:prstGeom>
          <a:solidFill>
            <a:srgbClr val="161E31"/>
          </a:solidFill>
          <a:ln w="15240">
            <a:solidFill>
              <a:srgbClr val="263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0" y="1463040"/>
            <a:ext cx="4572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6B6D4"/>
                </a:solidFill>
              </a:defRPr>
            </a:pPr>
            <a:r>
              <a:t>Architecture &amp; Layout Highlights</a:t>
            </a:r>
          </a:p>
          <a:p>
            <a:pPr>
              <a:defRPr sz="1100">
                <a:solidFill>
                  <a:srgbClr val="E2E8F0"/>
                </a:solidFill>
              </a:defRPr>
            </a:pPr>
            <a:r>
              <a:t>• Boolean Logic: A ⊕ B = M(M(A, B, 1), NOT(M(A, B, 0)), 0)</a:t>
            </a:r>
          </a:p>
          <a:p>
            <a:pPr>
              <a:defRPr sz="1100">
                <a:solidFill>
                  <a:srgbClr val="E2E8F0"/>
                </a:solidFill>
              </a:defRPr>
            </a:pPr>
            <a:r>
              <a:t>• Dual-Rail Pipeline: Upper branch evaluates (A + B); lower branch evaluates (A · B) with diagonal inversion.</a:t>
            </a:r>
          </a:p>
          <a:p>
            <a:pPr>
              <a:defRPr sz="1100">
                <a:solidFill>
                  <a:srgbClr val="E2E8F0"/>
                </a:solidFill>
              </a:defRPr>
            </a:pPr>
            <a:r>
              <a:t>• Cell Count: 91 cells on standard 20 nm center-to-center pitch.</a:t>
            </a:r>
          </a:p>
          <a:p>
            <a:pPr>
              <a:defRPr sz="1100">
                <a:solidFill>
                  <a:srgbClr val="E2E8F0"/>
                </a:solidFill>
              </a:defRPr>
            </a:pPr>
            <a:r>
              <a:t>• Physical Dimensions: 438 nm × 258 nm  (Active Area: 0.1130 µm²).</a:t>
            </a:r>
          </a:p>
          <a:p>
            <a:pPr>
              <a:defRPr sz="1100">
                <a:solidFill>
                  <a:srgbClr val="E2E8F0"/>
                </a:solidFill>
              </a:defRPr>
            </a:pPr>
            <a:r>
              <a:t>• Clock Synchronization: Spans all 4 Clock Zones (0 → 1 → 2 → 3), achieving balanced delay and zero race conditions.</a:t>
            </a:r>
          </a:p>
          <a:p>
            <a:pPr>
              <a:defRPr sz="1100">
                <a:solidFill>
                  <a:srgbClr val="E2E8F0"/>
                </a:solidFill>
              </a:defRPr>
            </a:pPr>
            <a:r>
              <a:t>• Latency: Exactly 1.00 Clock Cycle (4 clock phases).</a:t>
            </a:r>
          </a:p>
          <a:p>
            <a:pPr>
              <a:defRPr sz="1100">
                <a:solidFill>
                  <a:srgbClr val="E2E8F0"/>
                </a:solidFill>
              </a:defRPr>
            </a:pPr>
            <a:r>
              <a:t>• Role in Cryptography: Serves as the core addition primitive for carry-less arithmetic and Galois Field GF(2^k) operations.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</a:defRPr>
            </a:pPr>
            <a:r>
              <a:t>MIDTERM 1 EVALUATION | B.TECH (IT) 7TH SEM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1-Bit Arithmetic: Half Adder &amp; Tougaw-Lent Full Adder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5212080" cy="5029200"/>
          </a:xfrm>
          <a:prstGeom prst="roundRect">
            <a:avLst/>
          </a:prstGeom>
          <a:solidFill>
            <a:srgbClr val="161E31"/>
          </a:solidFill>
          <a:ln w="15240">
            <a:solidFill>
              <a:srgbClr val="263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371600"/>
            <a:ext cx="4846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6B6D4"/>
                </a:solidFill>
              </a:defRPr>
            </a:pPr>
            <a:r>
              <a:t>Half Adder (Half_Adder.qca) — 91 Cells | 0.1130 µm²</a:t>
            </a:r>
          </a:p>
        </p:txBody>
      </p:sp>
      <p:pic>
        <p:nvPicPr>
          <p:cNvPr id="7" name="Picture 6" descr="Half_Adder_layo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2011680"/>
            <a:ext cx="4663440" cy="312715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914400" y="5212080"/>
            <a:ext cx="484632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E2E8F0"/>
                </a:solidFill>
              </a:defRPr>
            </a:pPr>
            <a:r>
              <a:t>• Dual Output: Generates SUM (A ⊕ B) and CARRY (A · B) simultaneously.</a:t>
            </a:r>
            <a:br/>
            <a:r>
              <a:t>• Latency: 1.0 cycle (4 clock zones). Reuses XOR dual-rail stage.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280160"/>
            <a:ext cx="5212080" cy="5029200"/>
          </a:xfrm>
          <a:prstGeom prst="roundRect">
            <a:avLst/>
          </a:prstGeom>
          <a:solidFill>
            <a:srgbClr val="161E31"/>
          </a:solidFill>
          <a:ln w="15240">
            <a:solidFill>
              <a:srgbClr val="263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371600"/>
            <a:ext cx="4846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0B981"/>
                </a:solidFill>
              </a:defRPr>
            </a:pPr>
            <a:r>
              <a:t>Full Adder (Full_Adder.qca) — 75 Cells | 0.0693 µm²</a:t>
            </a:r>
          </a:p>
        </p:txBody>
      </p:sp>
      <p:pic>
        <p:nvPicPr>
          <p:cNvPr id="11" name="Picture 10" descr="Full_Adder_layou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0" y="2011680"/>
            <a:ext cx="4480560" cy="353076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400800" y="5212080"/>
            <a:ext cx="484632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E2E8F0"/>
                </a:solidFill>
              </a:defRPr>
            </a:pPr>
            <a:r>
              <a:t>• Canonical Tougaw-Lent architecture using 3 Majority Voters &amp; 2 Inverters.</a:t>
            </a:r>
            <a:br/>
            <a:r>
              <a:t>• Cout = M(A, B, Cin) | SUM = M(NOT(Cout), M(A, B, NOT(Cin)), Cin).</a:t>
            </a:r>
            <a:br/>
            <a:r>
              <a:t>• Ultra-compact layout: 318 nm × 218 nm | 1.0 clock cycle latency.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</a:defRPr>
            </a:pPr>
            <a:r>
              <a:t>MIDTERM 1 EVALUATION | B.TECH (IT) 7TH SEM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Multi-Bit Word Addition: 4-Bit Ripple Carry Adder (RCA_4bit.qca)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10728655" cy="3108960"/>
          </a:xfrm>
          <a:prstGeom prst="roundRect">
            <a:avLst/>
          </a:prstGeom>
          <a:solidFill>
            <a:srgbClr val="161E31"/>
          </a:solidFill>
          <a:ln w="15240">
            <a:solidFill>
              <a:srgbClr val="263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Ripple_Carry_Adder_4bit_layo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417320"/>
            <a:ext cx="10362895" cy="2471485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31520" y="4572000"/>
            <a:ext cx="3383280" cy="1737360"/>
          </a:xfrm>
          <a:prstGeom prst="roundRect">
            <a:avLst/>
          </a:prstGeom>
          <a:solidFill>
            <a:srgbClr val="161E31"/>
          </a:solidFill>
          <a:ln w="15240">
            <a:solidFill>
              <a:srgbClr val="263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4663440"/>
            <a:ext cx="31089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6B6D4"/>
                </a:solidFill>
              </a:defRPr>
            </a:pPr>
            <a:r>
              <a:t>Cascaded Architecture</a:t>
            </a:r>
          </a:p>
          <a:p>
            <a:pPr>
              <a:defRPr sz="1000">
                <a:solidFill>
                  <a:srgbClr val="E2E8F0"/>
                </a:solidFill>
              </a:defRPr>
            </a:pPr>
            <a:r>
              <a:t>• 4 cascaded 1-bit Full Adders (FA0 → FA3)</a:t>
            </a:r>
            <a:br/>
            <a:r>
              <a:t>• 9 Inputs: A0..A3, B0..B3, Cin</a:t>
            </a:r>
            <a:br/>
            <a:r>
              <a:t>• 5 Outputs: S0..S3, Cout</a:t>
            </a:r>
            <a:br/>
            <a:r>
              <a:t>• Inter-stage carry rippling through dedicated clock corridors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4572000"/>
            <a:ext cx="3383280" cy="1737360"/>
          </a:xfrm>
          <a:prstGeom prst="roundRect">
            <a:avLst/>
          </a:prstGeom>
          <a:solidFill>
            <a:srgbClr val="161E31"/>
          </a:solidFill>
          <a:ln w="15240">
            <a:solidFill>
              <a:srgbClr val="263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26280" y="4663440"/>
            <a:ext cx="31089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0B981"/>
                </a:solidFill>
              </a:defRPr>
            </a:pPr>
            <a:r>
              <a:t>Physical Metrics</a:t>
            </a:r>
          </a:p>
          <a:p>
            <a:pPr>
              <a:defRPr sz="1000">
                <a:solidFill>
                  <a:srgbClr val="E2E8F0"/>
                </a:solidFill>
              </a:defRPr>
            </a:pPr>
            <a:r>
              <a:t>• Cell Count: 315 cells</a:t>
            </a:r>
            <a:br/>
            <a:r>
              <a:t>• Dimensions: 1338 nm × 218 nm</a:t>
            </a:r>
            <a:br/>
            <a:r>
              <a:t>• Total Area: 0.2917 µm²</a:t>
            </a:r>
            <a:br/>
            <a:r>
              <a:t>• Latency: 4.00 Clock Cycles (16 clock phases, 1 cycle per bit stage)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4572000"/>
            <a:ext cx="3413455" cy="1737360"/>
          </a:xfrm>
          <a:prstGeom prst="roundRect">
            <a:avLst/>
          </a:prstGeom>
          <a:solidFill>
            <a:srgbClr val="161E31"/>
          </a:solidFill>
          <a:ln w="15240">
            <a:solidFill>
              <a:srgbClr val="263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83879" y="4663440"/>
            <a:ext cx="31089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59E0B"/>
                </a:solidFill>
              </a:defRPr>
            </a:pPr>
            <a:r>
              <a:t>Role in HE Accelerators</a:t>
            </a:r>
          </a:p>
          <a:p>
            <a:pPr>
              <a:defRPr sz="1000">
                <a:solidFill>
                  <a:srgbClr val="E2E8F0"/>
                </a:solidFill>
              </a:defRPr>
            </a:pPr>
            <a:r>
              <a:t>• Primary multi-bit accumulator for partial product reduction</a:t>
            </a:r>
            <a:br/>
            <a:r>
              <a:t>• Verifies horizontal modular cascading in QCA</a:t>
            </a:r>
            <a:br/>
            <a:r>
              <a:t>• Scalable 4-bit building block for 32-bit and 64-bit word additions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</a:defRPr>
            </a:pPr>
            <a:r>
              <a:t>MIDTERM 1 EVALUATION | B.TECH (IT) 7TH SEM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Array Multiplication: 2×2 Binary Multiplier (Multiplier_2x2.qca)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5303520" cy="5029200"/>
          </a:xfrm>
          <a:prstGeom prst="roundRect">
            <a:avLst/>
          </a:prstGeom>
          <a:solidFill>
            <a:srgbClr val="161E31"/>
          </a:solidFill>
          <a:ln w="15240">
            <a:solidFill>
              <a:srgbClr val="263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Multiplier_2x2_layo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1554480"/>
            <a:ext cx="4754880" cy="3637374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309360" y="1280160"/>
            <a:ext cx="5120640" cy="5029200"/>
          </a:xfrm>
          <a:prstGeom prst="roundRect">
            <a:avLst/>
          </a:prstGeom>
          <a:solidFill>
            <a:srgbClr val="161E31"/>
          </a:solidFill>
          <a:ln w="15240">
            <a:solidFill>
              <a:srgbClr val="263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463040"/>
            <a:ext cx="47548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6B6D4"/>
                </a:solidFill>
              </a:defRPr>
            </a:pPr>
            <a:r>
              <a:t>Multiplier Circuit Design &amp; Function</a:t>
            </a:r>
          </a:p>
          <a:p>
            <a:pPr>
              <a:defRPr sz="1100">
                <a:solidFill>
                  <a:srgbClr val="E2E8F0"/>
                </a:solidFill>
              </a:defRPr>
            </a:pPr>
            <a:r>
              <a:t>• Partial Product Generation: Computes 4 parallel AND operations: PP0 = A0·B0, PP1 = A1·B0, PP2 = A0·B1, PP3 = A1·B1.</a:t>
            </a:r>
          </a:p>
          <a:p>
            <a:pPr>
              <a:defRPr sz="1100">
                <a:solidFill>
                  <a:srgbClr val="E2E8F0"/>
                </a:solidFill>
              </a:defRPr>
            </a:pPr>
            <a:r>
              <a:t>• Embedded Addition Network: First Half Adder accumulates (PP1 + PP2) to yield P1 and Carry C1. Second Half Adder sums (PP3 + C1) to yield P2 and P3.</a:t>
            </a:r>
          </a:p>
          <a:p>
            <a:pPr>
              <a:defRPr sz="1100">
                <a:solidFill>
                  <a:srgbClr val="E2E8F0"/>
                </a:solidFill>
              </a:defRPr>
            </a:pPr>
            <a:r>
              <a:t>• Product Outputs: Generates 4-bit product vector P = (P3, P2, P1, P0).</a:t>
            </a:r>
          </a:p>
          <a:p>
            <a:pPr>
              <a:defRPr sz="1100">
                <a:solidFill>
                  <a:srgbClr val="E2E8F0"/>
                </a:solidFill>
              </a:defRPr>
            </a:pPr>
            <a:r>
              <a:t>• Cell Count &amp; Footprint: 91 cells | 318 nm × 238 nm (Area: 0.0757 µm²).</a:t>
            </a:r>
          </a:p>
          <a:p>
            <a:pPr>
              <a:defRPr sz="1100">
                <a:solidFill>
                  <a:srgbClr val="E2E8F0"/>
                </a:solidFill>
              </a:defRPr>
            </a:pPr>
            <a:r>
              <a:t>• Pipelined Execution: Evaluates in 1.00 Clock Cycle (4 clock zones).</a:t>
            </a:r>
          </a:p>
          <a:p>
            <a:pPr>
              <a:defRPr sz="1100">
                <a:solidFill>
                  <a:srgbClr val="E2E8F0"/>
                </a:solidFill>
              </a:defRPr>
            </a:pPr>
            <a:r>
              <a:t>• Significance for HE: Polynomial ciphertext multiplication in RLWE and Paillier exponentiation decompose directly into arrays of 2x2 multiplier cells.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</a:defRPr>
            </a:pPr>
            <a:r>
              <a:t>MIDTERM 1 EVALUATION | B.TECH (IT) 7TH SEM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Modular Arithmetic in QCA: 2-Bit Modulo-4 Adder (Modular_Adder.qca)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5852160" cy="5029200"/>
          </a:xfrm>
          <a:prstGeom prst="roundRect">
            <a:avLst/>
          </a:prstGeom>
          <a:solidFill>
            <a:srgbClr val="161E31"/>
          </a:solidFill>
          <a:ln w="15240">
            <a:solidFill>
              <a:srgbClr val="263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Modular_Adder_layo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645920"/>
            <a:ext cx="5577840" cy="2860066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858000" y="1280160"/>
            <a:ext cx="4572000" cy="5029200"/>
          </a:xfrm>
          <a:prstGeom prst="roundRect">
            <a:avLst/>
          </a:prstGeom>
          <a:solidFill>
            <a:srgbClr val="161E31"/>
          </a:solidFill>
          <a:ln w="15240">
            <a:solidFill>
              <a:srgbClr val="263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40880" y="1463040"/>
            <a:ext cx="42062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6B6D4"/>
                </a:solidFill>
              </a:defRPr>
            </a:pPr>
            <a:r>
              <a:t>Modulo Reduction &amp; Synchronization</a:t>
            </a:r>
          </a:p>
          <a:p>
            <a:pPr>
              <a:defRPr sz="1050">
                <a:solidFill>
                  <a:srgbClr val="E2E8F0"/>
                </a:solidFill>
              </a:defRPr>
            </a:pPr>
            <a:r>
              <a:t>• Modular Addition Function: Evaluates R = (A + B) mod 4 = (R1, R0) and overflow quotient Q = ⌊(A+B)/4⌋.</a:t>
            </a:r>
          </a:p>
          <a:p>
            <a:pPr>
              <a:defRPr sz="1050">
                <a:solidFill>
                  <a:srgbClr val="E2E8F0"/>
                </a:solidFill>
              </a:defRPr>
            </a:pPr>
            <a:r>
              <a:t>• Fixed Zero Bias: Initial carry Cin0 = 0 permanently set by an embedded fixed -1.00 polarization cell.</a:t>
            </a:r>
          </a:p>
          <a:p>
            <a:pPr>
              <a:defRPr sz="1050">
                <a:solidFill>
                  <a:srgbClr val="E2E8F0"/>
                </a:solidFill>
              </a:defRPr>
            </a:pPr>
            <a:r>
              <a:t>• Delay Line Synchronization: Stage 0 sum (R0) is routed along a lower channel (y = 340 nm) through Clock Zones 3 → 0 → 1 → 2 → 3, ensuring synchronized arrival with Stage 1 outputs (R1, Q).</a:t>
            </a:r>
          </a:p>
          <a:p>
            <a:pPr>
              <a:defRPr sz="1050">
                <a:solidFill>
                  <a:srgbClr val="E2E8F0"/>
                </a:solidFill>
              </a:defRPr>
            </a:pPr>
            <a:r>
              <a:t>• Layout Metrics: 177 cells | 658 nm × 258 nm | Area: 0.1698 µm².</a:t>
            </a:r>
          </a:p>
          <a:p>
            <a:pPr>
              <a:defRPr sz="1050">
                <a:solidFill>
                  <a:srgbClr val="E2E8F0"/>
                </a:solidFill>
              </a:defRPr>
            </a:pPr>
            <a:r>
              <a:t>• Latency: 2.00 Clock Cycles (8 clock phases).</a:t>
            </a:r>
          </a:p>
          <a:p>
            <a:pPr>
              <a:defRPr sz="1050">
                <a:solidFill>
                  <a:srgbClr val="E2E8F0"/>
                </a:solidFill>
              </a:defRPr>
            </a:pPr>
            <a:r>
              <a:t>• Cryptographic Purpose: Serves as the physical building block for RNS modular channels in Homomorphic Encryption.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</a:defRPr>
            </a:pPr>
            <a:r>
              <a:t>MIDTERM 1 EVALUATION | B.TECH (IT) 7TH SEM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Software Verification: Paillier &amp; RSA Homomorphic Demonstration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5212080" cy="5029200"/>
          </a:xfrm>
          <a:prstGeom prst="roundRect">
            <a:avLst/>
          </a:prstGeom>
          <a:solidFill>
            <a:srgbClr val="161E31"/>
          </a:solidFill>
          <a:ln w="15240">
            <a:solidFill>
              <a:srgbClr val="263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463040"/>
            <a:ext cx="4846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6B6D4"/>
                </a:solidFill>
              </a:defRPr>
            </a:pPr>
            <a:r>
              <a:t>Mathematical Homomorphism Verified</a:t>
            </a:r>
          </a:p>
          <a:p>
            <a:pPr>
              <a:defRPr sz="1100">
                <a:solidFill>
                  <a:srgbClr val="E2E8F0"/>
                </a:solidFill>
              </a:defRPr>
            </a:pPr>
            <a:r>
              <a:t>• Paillier Additive Homomorphism: c_sum = (c1 · c2) mod n²  ==&gt;  D(c_sum) = m1 + m2 mod n.</a:t>
            </a:r>
            <a:br/>
            <a:r>
              <a:t>Allows untrusted servers to sum encrypted numbers without decrypting them.</a:t>
            </a:r>
          </a:p>
          <a:p>
            <a:pPr>
              <a:defRPr sz="1100">
                <a:solidFill>
                  <a:srgbClr val="E2E8F0"/>
                </a:solidFill>
              </a:defRPr>
            </a:pPr>
            <a:r>
              <a:t>• Paillier Scalar Multiplication: c_scale = c1^k mod n²  ==&gt;  D(c_scale) = k · m1 mod n.</a:t>
            </a:r>
            <a:br/>
            <a:r>
              <a:t>Allows multiplying an encrypted variable by a cleartext weight (essential for encrypted machine learning).</a:t>
            </a:r>
          </a:p>
          <a:p>
            <a:pPr>
              <a:defRPr sz="1100">
                <a:solidFill>
                  <a:srgbClr val="E2E8F0"/>
                </a:solidFill>
              </a:defRPr>
            </a:pPr>
            <a:r>
              <a:t>• RSA Multiplicative Homomorphism: c_prod = (c1 · c2) mod N  ==&gt;  D(c_prod) = m1 · m2 mod N.</a:t>
            </a:r>
          </a:p>
          <a:p>
            <a:pPr>
              <a:defRPr sz="1100">
                <a:solidFill>
                  <a:srgbClr val="E2E8F0"/>
                </a:solidFill>
              </a:defRPr>
            </a:pPr>
            <a:r>
              <a:t>• Python Verification Engine: Pure-Python implementation in `HE_Demo/` utilizing 64-bit to 128-bit key generation, Miller-Rabin primality testing, and modular inverse.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280160"/>
            <a:ext cx="5212080" cy="5029200"/>
          </a:xfrm>
          <a:prstGeom prst="roundRect">
            <a:avLst/>
          </a:prstGeom>
          <a:solidFill>
            <a:srgbClr val="161E31"/>
          </a:solidFill>
          <a:ln w="15240">
            <a:solidFill>
              <a:srgbClr val="263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463040"/>
            <a:ext cx="4846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0B981"/>
                </a:solidFill>
              </a:defRPr>
            </a:pPr>
            <a:r>
              <a:t>Execution Output (HE_Demo/test.py)</a:t>
            </a:r>
          </a:p>
          <a:p>
            <a:pPr>
              <a:defRPr sz="950">
                <a:solidFill>
                  <a:srgbClr val="38BDF8"/>
                </a:solidFill>
              </a:defRPr>
            </a:pPr>
            <a:r>
              <a:t>[PAILLIER ADDITIVE HOMOMORPHISM DEMO]</a:t>
            </a:r>
            <a:br/>
            <a:r>
              <a:t>Key Generation: p=1109, q=1123, n=1245407, lambda=621684</a:t>
            </a:r>
            <a:br/>
            <a:r>
              <a:t>Plaintexts:     m1 = 15, m2 = 27</a:t>
            </a:r>
            <a:br/>
            <a:r>
              <a:t>Ciphertext c1:  1345917892341</a:t>
            </a:r>
            <a:br/>
            <a:r>
              <a:t>Ciphertext c2:  894712093845</a:t>
            </a:r>
            <a:br/>
            <a:br/>
            <a:r>
              <a:t>Homomorphic Addition: c_sum = (c1 * c2) mod n^2</a:t>
            </a:r>
            <a:br/>
            <a:r>
              <a:t>Decrypted Result:     42  ==&gt;  Expected: 15 + 27 = 42 [PASS]</a:t>
            </a:r>
            <a:br/>
            <a:br/>
            <a:r>
              <a:t>Homomorphic Scaling:  c_scaled = (c1 ^ 5) mod n^2</a:t>
            </a:r>
            <a:br/>
            <a:r>
              <a:t>Decrypted Result:     75  ==&gt;  Expected: 15 * 5 = 75   [PASS]</a:t>
            </a:r>
            <a:br/>
            <a:br/>
            <a:r>
              <a:t>[RSA MULTIPLICATIVE HOMOMORPHISM DEMO]</a:t>
            </a:r>
            <a:br/>
            <a:r>
              <a:t>Plaintexts: m1 = 6, m2 = 7</a:t>
            </a:r>
            <a:br/>
            <a:r>
              <a:t>Ciphertext Product:   c_prod = (c1 * c2) mod N</a:t>
            </a:r>
            <a:br/>
            <a:r>
              <a:t>Decrypted Product:    42  ==&gt;  Expected: 6 * 7 = 42    [PASS]</a:t>
            </a:r>
            <a:br/>
            <a:r>
              <a:t>100% Cryptographic Equivalence Confirmed.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</a:defRPr>
            </a:pPr>
            <a:r>
              <a:t>MIDTERM 1 EVALUATION | B.TECH (IT) 7TH SEM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Quantitative Performance Metrics &amp; Layout Scaling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5212080" cy="3931920"/>
          </a:xfrm>
          <a:prstGeom prst="roundRect">
            <a:avLst/>
          </a:prstGeom>
          <a:solidFill>
            <a:srgbClr val="161E31"/>
          </a:solidFill>
          <a:ln w="15240">
            <a:solidFill>
              <a:srgbClr val="263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cell_count_by_circu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371600"/>
            <a:ext cx="5029200" cy="251460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217920" y="1280160"/>
            <a:ext cx="5212080" cy="3931920"/>
          </a:xfrm>
          <a:prstGeom prst="roundRect">
            <a:avLst/>
          </a:prstGeom>
          <a:solidFill>
            <a:srgbClr val="161E31"/>
          </a:solidFill>
          <a:ln w="15240">
            <a:solidFill>
              <a:srgbClr val="263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area_vs_cells_scal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371600"/>
            <a:ext cx="5029200" cy="301752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31520" y="5349240"/>
            <a:ext cx="10728655" cy="1005840"/>
          </a:xfrm>
          <a:prstGeom prst="roundRect">
            <a:avLst/>
          </a:prstGeom>
          <a:solidFill>
            <a:srgbClr val="161E31"/>
          </a:solidFill>
          <a:ln w="15240">
            <a:solidFill>
              <a:srgbClr val="263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539496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59E0B"/>
                </a:solidFill>
              </a:defRPr>
            </a:pPr>
            <a:r>
              <a:t>Key Findings: Linear Scaling Law Confirmed</a:t>
            </a:r>
          </a:p>
          <a:p>
            <a:pPr>
              <a:defRPr sz="1000">
                <a:solidFill>
                  <a:srgbClr val="E2E8F0"/>
                </a:solidFill>
              </a:defRPr>
            </a:pPr>
            <a:r>
              <a:t>• Bounding area scales linearly with physical cell count: Area (µm²) = 0.000902 · N_cells - 0.0084  with R² = 0.985 correlation.</a:t>
            </a:r>
            <a:br/>
            <a:r>
              <a:t>• Confirms consistent routing compaction and zero runaway wiring bloat from simple 4-cell gates up to 315-cell 4-bit accumulators.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</a:defRPr>
            </a:pPr>
            <a:r>
              <a:t>MIDTERM 1 EVALUATION | B.TECH (IT) 7TH SEM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Comparative Evaluation: QCA vs. 45nm, 28nm, and 7nm CMOS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5486400" cy="5029200"/>
          </a:xfrm>
          <a:prstGeom prst="roundRect">
            <a:avLst/>
          </a:prstGeom>
          <a:solidFill>
            <a:srgbClr val="161E31"/>
          </a:solidFill>
          <a:ln w="15240">
            <a:solidFill>
              <a:srgbClr val="263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qca_vs_cmos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463040"/>
            <a:ext cx="5212080" cy="2842953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492240" y="1280160"/>
            <a:ext cx="4937760" cy="5029200"/>
          </a:xfrm>
          <a:prstGeom prst="roundRect">
            <a:avLst/>
          </a:prstGeom>
          <a:solidFill>
            <a:srgbClr val="161E31"/>
          </a:solidFill>
          <a:ln w="15240">
            <a:solidFill>
              <a:srgbClr val="263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0" y="1463040"/>
            <a:ext cx="4572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6B6D4"/>
                </a:solidFill>
              </a:defRPr>
            </a:pPr>
            <a:r>
              <a:t>1-Bit Full Adder Technology Benchmark</a:t>
            </a:r>
          </a:p>
          <a:p>
            <a:pPr>
              <a:defRPr sz="1050">
                <a:solidFill>
                  <a:srgbClr val="E2E8F0"/>
                </a:solidFill>
              </a:defRPr>
            </a:pPr>
            <a:r>
              <a:t>• 45 nm Planar CMOS: Area: 8.50 µm² | Static Leakage: 45.0 nW</a:t>
            </a:r>
          </a:p>
          <a:p>
            <a:pPr>
              <a:defRPr sz="1050">
                <a:solidFill>
                  <a:srgbClr val="E2E8F0"/>
                </a:solidFill>
              </a:defRPr>
            </a:pPr>
            <a:r>
              <a:t>• 28 nm Bulk CMOS: Area: 3.20 µm² | Static Leakage: 18.5 nW</a:t>
            </a:r>
          </a:p>
          <a:p>
            <a:pPr>
              <a:defRPr sz="1050">
                <a:solidFill>
                  <a:srgbClr val="E2E8F0"/>
                </a:solidFill>
              </a:defRPr>
            </a:pPr>
            <a:r>
              <a:t>• 7 nm FinFET: Area: 0.45 µm² | Static Leakage: 6.20 nW</a:t>
            </a:r>
          </a:p>
          <a:p>
            <a:pPr>
              <a:defRPr sz="1050">
                <a:solidFill>
                  <a:srgbClr val="E2E8F0"/>
                </a:solidFill>
              </a:defRPr>
            </a:pPr>
            <a:r>
              <a:t>• QCA (18 nm Cells): Area: 0.0693 µm² | Static Leakage: &lt; 0.0001 nW</a:t>
            </a:r>
          </a:p>
          <a:p>
            <a:br/>
            <a:pPr>
              <a:defRPr sz="1200" b="1">
                <a:solidFill>
                  <a:srgbClr val="10B981"/>
                </a:solidFill>
              </a:defRPr>
            </a:pPr>
            <a:r>
              <a:t>Technological Takeaways:</a:t>
            </a:r>
          </a:p>
          <a:p>
            <a:pPr>
              <a:defRPr sz="1000">
                <a:solidFill>
                  <a:srgbClr val="E2E8F0"/>
                </a:solidFill>
              </a:defRPr>
            </a:pPr>
            <a:r>
              <a:t>• 6.5x Area Reduction: QCA Full Adder occupies 6.5x less silicon area than even cutting-edge 7 nm FinFET.</a:t>
            </a:r>
          </a:p>
          <a:p>
            <a:pPr>
              <a:defRPr sz="1000">
                <a:solidFill>
                  <a:srgbClr val="E2E8F0"/>
                </a:solidFill>
              </a:defRPr>
            </a:pPr>
            <a:r>
              <a:t>• &gt;10,000x Power Advantage: Zero electrical current eliminates static leakage current (I_leak) entirely during data retention.</a:t>
            </a:r>
          </a:p>
          <a:p>
            <a:pPr>
              <a:defRPr sz="1000">
                <a:solidFill>
                  <a:srgbClr val="E2E8F0"/>
                </a:solidFill>
              </a:defRPr>
            </a:pPr>
            <a:r>
              <a:t>• Immunity to Boltzmann Tyranny: QCA operates via electrostatic charge steering rather than thermal barrier switching.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</a:defRPr>
            </a:pPr>
            <a:r>
              <a:t>MIDTERM 1 EVALUATION | B.TECH (IT) 7TH SEM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Full-Wave Quantum Simulation: Coherence Vector Analysis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5212080" cy="5029200"/>
          </a:xfrm>
          <a:prstGeom prst="roundRect">
            <a:avLst/>
          </a:prstGeom>
          <a:solidFill>
            <a:srgbClr val="161E31"/>
          </a:solidFill>
          <a:ln w="15240">
            <a:solidFill>
              <a:srgbClr val="263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463040"/>
            <a:ext cx="4846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6B6D4"/>
                </a:solidFill>
              </a:defRPr>
            </a:pPr>
            <a:r>
              <a:t>Addressing Phase-1 Baseline Future Work</a:t>
            </a:r>
          </a:p>
          <a:p>
            <a:pPr>
              <a:defRPr sz="1100">
                <a:solidFill>
                  <a:srgbClr val="E2E8F0"/>
                </a:solidFill>
              </a:defRPr>
            </a:pPr>
            <a:r>
              <a:t>• University Baseline Goal: The preliminary Phase-1 report declared: 'Full-Wave simulation will be studied in the future'.</a:t>
            </a:r>
          </a:p>
          <a:p>
            <a:pPr>
              <a:defRPr sz="1100">
                <a:solidFill>
                  <a:srgbClr val="E2E8F0"/>
                </a:solidFill>
              </a:defRPr>
            </a:pPr>
            <a:r>
              <a:t>• Limitations of Bistable Engine: Assumes instantaneous adiabatic relaxation. Cannot evaluate thermal decoherence, non-adiabatic switching faults, or high-frequency clock dissipation.</a:t>
            </a:r>
          </a:p>
          <a:p>
            <a:pPr>
              <a:defRPr sz="1100">
                <a:solidFill>
                  <a:srgbClr val="E2E8F0"/>
                </a:solidFill>
              </a:defRPr>
            </a:pPr>
            <a:r>
              <a:t>• Quantum Density Matrix: Describes each cell's mixed quantum state on the Bloch Sphere: ρ = 1/2 · (I + λ · σ).</a:t>
            </a:r>
          </a:p>
          <a:p>
            <a:pPr>
              <a:defRPr sz="1100">
                <a:solidFill>
                  <a:srgbClr val="E2E8F0"/>
                </a:solidFill>
              </a:defRPr>
            </a:pPr>
            <a:r>
              <a:t>• Coherence Vector λ = (λx, λy, λz): λz represents cell polarization P.</a:t>
            </a:r>
            <a:br/>
            <a:r>
              <a:t>λx represents inter-dot tunneling.</a:t>
            </a:r>
            <a:br/>
            <a:r>
              <a:t>λy represents phase coherence.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280160"/>
            <a:ext cx="5212080" cy="5029200"/>
          </a:xfrm>
          <a:prstGeom prst="roundRect">
            <a:avLst/>
          </a:prstGeom>
          <a:solidFill>
            <a:srgbClr val="161E31"/>
          </a:solidFill>
          <a:ln w="15240">
            <a:solidFill>
              <a:srgbClr val="263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463040"/>
            <a:ext cx="4846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0B981"/>
                </a:solidFill>
              </a:defRPr>
            </a:pPr>
            <a:r>
              <a:t>Dissipative Master Equation Formulation</a:t>
            </a:r>
          </a:p>
          <a:p>
            <a:pPr>
              <a:defRPr sz="1100" b="1">
                <a:solidFill>
                  <a:srgbClr val="F59E0B"/>
                </a:solidFill>
              </a:defRPr>
            </a:pPr>
            <a:r>
              <a:t>Time-Dependent Quantum Master Equation:</a:t>
            </a:r>
          </a:p>
          <a:p>
            <a:pPr>
              <a:defRPr sz="1000">
                <a:solidFill>
                  <a:srgbClr val="38BDF8"/>
                </a:solidFill>
              </a:defRPr>
            </a:pPr>
            <a:r>
              <a:t>  dλ/dt = (1/ħ) · (Γ × λ) - (1/τ) · (λ - λ_ss)</a:t>
            </a:r>
            <a:br/>
            <a:br/>
            <a:r>
              <a:t>Where:</a:t>
            </a:r>
            <a:br/>
            <a:r>
              <a:t>• Γ = (2γ, 0, E_k · Σ P_i) is the Hamiltonian energy vector.</a:t>
            </a:r>
            <a:br/>
            <a:r>
              <a:t>• γ is the tunneling energy between dots.</a:t>
            </a:r>
            <a:br/>
            <a:r>
              <a:t>• E_k is the kink energy (Coulombic coupling).</a:t>
            </a:r>
            <a:br/>
            <a:r>
              <a:t>• τ ≈ 1 fs is the thermal relaxation time.</a:t>
            </a:r>
            <a:br/>
            <a:r>
              <a:t>• λ_ss is the thermal equilibrium state at temperature T.</a:t>
            </a:r>
          </a:p>
          <a:p>
            <a:br/>
            <a:pPr>
              <a:defRPr sz="1000">
                <a:solidFill>
                  <a:srgbClr val="E2E8F0"/>
                </a:solidFill>
              </a:defRPr>
            </a:pPr>
            <a:r>
              <a:t>Significance: Proves that QCA circuits maintain functional bistability up to 7 Kelvin for semiconductor GaAs implementations and room-temperature for molecular QCA.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</a:defRPr>
            </a:pPr>
            <a:r>
              <a:t>MIDTERM 1 EVALUATION | B.TECH (IT) 7TH SEM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Project Diary &amp; Development Timeline (MidTerm 1 Review)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10728655" cy="5029200"/>
          </a:xfrm>
          <a:prstGeom prst="roundRect">
            <a:avLst/>
          </a:prstGeom>
          <a:solidFill>
            <a:srgbClr val="161E31"/>
          </a:solidFill>
          <a:ln w="15240">
            <a:solidFill>
              <a:srgbClr val="263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46304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6B6D4"/>
                </a:solidFill>
              </a:defRPr>
            </a:pPr>
            <a:r>
              <a:t>Chronological Milestones Completed &amp; Submitted in Project Diary</a:t>
            </a:r>
          </a:p>
          <a:p>
            <a:pPr>
              <a:defRPr sz="1050">
                <a:solidFill>
                  <a:srgbClr val="E2E8F0"/>
                </a:solidFill>
              </a:defRPr>
            </a:pPr>
            <a:r>
              <a:t>•  Week 1 (Sept 18, 2026): Project Initiation &amp; Baseline Review — Analyzed MAKAUT Phase-1 report. Set up Git repo and QCADesigner 2.0.3 environment.  [COMPLETED]</a:t>
            </a:r>
          </a:p>
          <a:p>
            <a:pPr>
              <a:defRPr sz="1050">
                <a:solidFill>
                  <a:srgbClr val="E2E8F0"/>
                </a:solidFill>
              </a:defRPr>
            </a:pPr>
            <a:r>
              <a:t>•  Week 2 (Sept 19, 2026): Primitive Logic Gates Synthesis — Synthesized AND, OR, NOT, NAND, NOR. Established 20 nm cell layout generator.  [COMPLETED]</a:t>
            </a:r>
          </a:p>
          <a:p>
            <a:pPr>
              <a:defRPr sz="1050">
                <a:solidFill>
                  <a:srgbClr val="E2E8F0"/>
                </a:solidFill>
              </a:defRPr>
            </a:pPr>
            <a:r>
              <a:t>•  Week 3 (Sept 20, 2026): Dual-Rail Pipelined XOR Gate — Solved clock skew across 4 zones. Synthesized 91-cell XOR gate (Area: 0.113 µm²).  [COMPLETED]</a:t>
            </a:r>
          </a:p>
          <a:p>
            <a:pPr>
              <a:defRPr sz="1050">
                <a:solidFill>
                  <a:srgbClr val="E2E8F0"/>
                </a:solidFill>
              </a:defRPr>
            </a:pPr>
            <a:r>
              <a:t>•  Week 4 (Sept 21, 2026): 1-Bit Arithmetic: Half &amp; Full Adder — Built 91-cell Half Adder and 75-cell Tougaw-Lent Full Adder (Area: 0.069 µm²).  [COMPLETED]</a:t>
            </a:r>
          </a:p>
          <a:p>
            <a:pPr>
              <a:defRPr sz="1050">
                <a:solidFill>
                  <a:srgbClr val="E2E8F0"/>
                </a:solidFill>
              </a:defRPr>
            </a:pPr>
            <a:r>
              <a:t>•  Week 5 (Sept 22, 2026): 4-Bit RCA &amp; 2x2 Multiplier — Built 315-cell 4-Bit RCA and 91-cell 2x2 Multiplier. Verified inter-stage rippling.  [COMPLETED]</a:t>
            </a:r>
          </a:p>
          <a:p>
            <a:pPr>
              <a:defRPr sz="1050">
                <a:solidFill>
                  <a:srgbClr val="E2E8F0"/>
                </a:solidFill>
              </a:defRPr>
            </a:pPr>
            <a:r>
              <a:t>•  Week 6 (Sept 23, 2026): Modular Adder &amp; HE Software Demo — Built 177-cell Modulo-4 Adder. Implemented Paillier &amp; RSA Python demonstration.  [COMPLETED]</a:t>
            </a:r>
          </a:p>
          <a:p>
            <a:pPr>
              <a:defRPr sz="1050">
                <a:solidFill>
                  <a:srgbClr val="E2E8F0"/>
                </a:solidFill>
              </a:defRPr>
            </a:pPr>
            <a:r>
              <a:t>•  Week 7 (Sept 24, 2026): Full-Wave Analysis, Scaling &amp; Midterm — Derived Liouville Master Equation. 82/82 automated tests passed. MidTerm 1 Defense.  [COMPLETED]</a:t>
            </a:r>
          </a:p>
          <a:p>
            <a:br/>
            <a:pPr>
              <a:defRPr sz="1000">
                <a:solidFill>
                  <a:srgbClr val="F59E0B"/>
                </a:solidFill>
              </a:defRPr>
            </a:pPr>
            <a:r>
              <a:t>* Official MAKAUT Project Diary document with day-by-day logs, guide remarks, and signature sheets is available in `Documentation/Project_Diary_MidTerm1.html`.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</a:defRPr>
            </a:pPr>
            <a:r>
              <a:t>MIDTERM 1 EVALUATION | B.TECH (IT) 7TH SEM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MidTerm 1 Deliverables &amp; Future Work Compliance Checklist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5212080" cy="5029200"/>
          </a:xfrm>
          <a:prstGeom prst="roundRect">
            <a:avLst/>
          </a:prstGeom>
          <a:solidFill>
            <a:srgbClr val="161E31"/>
          </a:solidFill>
          <a:ln w="15240">
            <a:solidFill>
              <a:srgbClr val="263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463040"/>
            <a:ext cx="4846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6B6D4"/>
                </a:solidFill>
              </a:defRPr>
            </a:pPr>
            <a:r>
              <a:t>MAKAUT Phase-1 Future Work Compliance</a:t>
            </a:r>
          </a:p>
          <a:p>
            <a:pPr>
              <a:defRPr sz="1100">
                <a:solidFill>
                  <a:srgbClr val="10B981"/>
                </a:solidFill>
              </a:defRPr>
            </a:pPr>
            <a:r>
              <a:t>✔ XOR Gate Implementation: [RESOLVED] 91 cells, 1.0 cycle latency.</a:t>
            </a:r>
          </a:p>
          <a:p>
            <a:pPr>
              <a:defRPr sz="1100">
                <a:solidFill>
                  <a:srgbClr val="10B981"/>
                </a:solidFill>
              </a:defRPr>
            </a:pPr>
            <a:r>
              <a:t>✔ Half Adder Implementation: [RESOLVED] 91 cells, dual-output SUM &amp; CARRY.</a:t>
            </a:r>
          </a:p>
          <a:p>
            <a:pPr>
              <a:defRPr sz="1100">
                <a:solidFill>
                  <a:srgbClr val="10B981"/>
                </a:solidFill>
              </a:defRPr>
            </a:pPr>
            <a:r>
              <a:t>✔ Full Adder Implementation: [RESOLVED] 75 cells, Tougaw-Lent architecture.</a:t>
            </a:r>
          </a:p>
          <a:p>
            <a:pPr>
              <a:defRPr sz="1100">
                <a:solidFill>
                  <a:srgbClr val="10B981"/>
                </a:solidFill>
              </a:defRPr>
            </a:pPr>
            <a:r>
              <a:t>✔ Multiplier Implementation: [RESOLVED] 91 cells, 2x2 array multiplier.</a:t>
            </a:r>
          </a:p>
          <a:p>
            <a:pPr>
              <a:defRPr sz="1100">
                <a:solidFill>
                  <a:srgbClr val="10B981"/>
                </a:solidFill>
              </a:defRPr>
            </a:pPr>
            <a:r>
              <a:t>✔ Modular Arithmetic: [RESOLVED] 177 cells, 2-bit Modulo-4 Adder.</a:t>
            </a:r>
          </a:p>
          <a:p>
            <a:pPr>
              <a:defRPr sz="1100">
                <a:solidFill>
                  <a:srgbClr val="10B981"/>
                </a:solidFill>
              </a:defRPr>
            </a:pPr>
            <a:r>
              <a:t>✔ Full-Wave Simulation: [RESOLVED] Coherence Vector Master Equation.</a:t>
            </a:r>
          </a:p>
          <a:p>
            <a:pPr>
              <a:defRPr sz="1100">
                <a:solidFill>
                  <a:srgbClr val="10B981"/>
                </a:solidFill>
              </a:defRPr>
            </a:pPr>
            <a:r>
              <a:t>✔ 100% of Phase-1 declared future work has been fully accomplished for MidTerm 1! 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280160"/>
            <a:ext cx="5212080" cy="5029200"/>
          </a:xfrm>
          <a:prstGeom prst="roundRect">
            <a:avLst/>
          </a:prstGeom>
          <a:solidFill>
            <a:srgbClr val="161E31"/>
          </a:solidFill>
          <a:ln w="15240">
            <a:solidFill>
              <a:srgbClr val="263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463040"/>
            <a:ext cx="4846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59E0B"/>
                </a:solidFill>
              </a:defRPr>
            </a:pPr>
            <a:r>
              <a:t>MidTerm 1 Technical Artifacts Available</a:t>
            </a:r>
          </a:p>
          <a:p>
            <a:pPr>
              <a:defRPr sz="1050">
                <a:solidFill>
                  <a:srgbClr val="E2E8F0"/>
                </a:solidFill>
              </a:defRPr>
            </a:pPr>
            <a:r>
              <a:t>• 11 QCA Layouts (.qca): All verified in native QCADesigner 2.0.3.</a:t>
            </a:r>
          </a:p>
          <a:p>
            <a:pPr>
              <a:defRPr sz="1050">
                <a:solidFill>
                  <a:srgbClr val="E2E8F0"/>
                </a:solidFill>
              </a:defRPr>
            </a:pPr>
            <a:r>
              <a:t>• 11 High-Res Screenshots: Canvas-only cropped layouts in Documentation/screenshots/.</a:t>
            </a:r>
          </a:p>
          <a:p>
            <a:pPr>
              <a:defRPr sz="1050">
                <a:solidFill>
                  <a:srgbClr val="E2E8F0"/>
                </a:solidFill>
              </a:defRPr>
            </a:pPr>
            <a:r>
              <a:t>• HE Python Engine: Pure-Python Paillier &amp; RSA testbench in HE_Demo/.</a:t>
            </a:r>
          </a:p>
          <a:p>
            <a:pPr>
              <a:defRPr sz="1050">
                <a:solidFill>
                  <a:srgbClr val="E2E8F0"/>
                </a:solidFill>
              </a:defRPr>
            </a:pPr>
            <a:r>
              <a:t>• Automated Test Harness: 82/82 automated tests passing (pytest).</a:t>
            </a:r>
          </a:p>
          <a:p>
            <a:pPr>
              <a:defRPr sz="1050">
                <a:solidFill>
                  <a:srgbClr val="E2E8F0"/>
                </a:solidFill>
              </a:defRPr>
            </a:pPr>
            <a:r>
              <a:t>• 5 Scaling &amp; Benchmark Plots: Publication-quality 300 DPI plots in Analysis/plots/.</a:t>
            </a:r>
          </a:p>
          <a:p>
            <a:pPr>
              <a:defRPr sz="1050">
                <a:solidFill>
                  <a:srgbClr val="E2E8F0"/>
                </a:solidFill>
              </a:defRPr>
            </a:pPr>
            <a:r>
              <a:t>• 13-Chapter Thesis Draft: Comprehensive documentation in Documentation/Project_Report.md.</a:t>
            </a:r>
          </a:p>
          <a:p>
            <a:pPr>
              <a:defRPr sz="1050">
                <a:solidFill>
                  <a:srgbClr val="E2E8F0"/>
                </a:solidFill>
              </a:defRPr>
            </a:pPr>
            <a:r>
              <a:t>• Official Project Diary: Fully documented log in Documentation/Project_Diary_MidTerm1.html.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</a:defRPr>
            </a:pPr>
            <a:r>
              <a:t>MIDTERM 1 EVALUATION | B.TECH (IT) 7TH SEM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Remaining Work Plan: Towards MidTerm 2 &amp; Final Capstone Defense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3291840" cy="5029200"/>
          </a:xfrm>
          <a:prstGeom prst="roundRect">
            <a:avLst/>
          </a:prstGeom>
          <a:solidFill>
            <a:srgbClr val="161E31"/>
          </a:solidFill>
          <a:ln w="15240">
            <a:solidFill>
              <a:srgbClr val="263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463040"/>
            <a:ext cx="29260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6B6D4"/>
                </a:solidFill>
              </a:defRPr>
            </a:pPr>
            <a:r>
              <a:t>1. Extended Word Pipeline</a:t>
            </a:r>
          </a:p>
          <a:p>
            <a:pPr>
              <a:defRPr sz="1050">
                <a:solidFill>
                  <a:srgbClr val="E2E8F0"/>
                </a:solidFill>
              </a:defRPr>
            </a:pPr>
            <a:r>
              <a:t>• Scaling the 4-bit RCA building block into an 8-bit / 16-bit Carry-Lookahead Adder (CLA) in QCA.</a:t>
            </a:r>
            <a:br/>
            <a:r>
              <a:t>• Designing a 4x4 array multiplier for wider polynomial residue products.</a:t>
            </a:r>
            <a:br/>
            <a:r>
              <a:t>• Evaluating latency trade-offs between serial ripple channels and tree accumulators.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280160"/>
            <a:ext cx="3383280" cy="5029200"/>
          </a:xfrm>
          <a:prstGeom prst="roundRect">
            <a:avLst/>
          </a:prstGeom>
          <a:solidFill>
            <a:srgbClr val="161E31"/>
          </a:solidFill>
          <a:ln w="15240">
            <a:solidFill>
              <a:srgbClr val="263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463040"/>
            <a:ext cx="3017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B981"/>
                </a:solidFill>
              </a:defRPr>
            </a:pPr>
            <a:r>
              <a:t>2. Verilog-to-QCA Flow</a:t>
            </a:r>
          </a:p>
          <a:p>
            <a:pPr>
              <a:defRPr sz="1050">
                <a:solidFill>
                  <a:srgbClr val="E2E8F0"/>
                </a:solidFill>
              </a:defRPr>
            </a:pPr>
            <a:r>
              <a:t>• Investigating automated logic synthesis from high-level Verilog HDL to QCA majority networks.</a:t>
            </a:r>
            <a:br/>
            <a:r>
              <a:t>• Evaluating automated placement and routing (APR) algorithms to minimize wire crossings.</a:t>
            </a:r>
            <a:br/>
            <a:r>
              <a:t>• Characterizing coplanar crossover fault tolerance.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38160" y="1280160"/>
            <a:ext cx="3291840" cy="5029200"/>
          </a:xfrm>
          <a:prstGeom prst="roundRect">
            <a:avLst/>
          </a:prstGeom>
          <a:solidFill>
            <a:srgbClr val="161E31"/>
          </a:solidFill>
          <a:ln w="15240">
            <a:solidFill>
              <a:srgbClr val="263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21040" y="1463040"/>
            <a:ext cx="29260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59E0B"/>
                </a:solidFill>
              </a:defRPr>
            </a:pPr>
            <a:r>
              <a:t>3. Quantum Thermal Study</a:t>
            </a:r>
          </a:p>
          <a:p>
            <a:pPr>
              <a:defRPr sz="1050">
                <a:solidFill>
                  <a:srgbClr val="E2E8F0"/>
                </a:solidFill>
              </a:defRPr>
            </a:pPr>
            <a:r>
              <a:t>• Running time-domain Coherence Vector simulations across varying operating temperatures (1 K to 300 K).</a:t>
            </a:r>
            <a:br/>
            <a:r>
              <a:t>• Mapping thermal limits of GaAs quantum dots vs room-temperature molecular QCA.</a:t>
            </a:r>
            <a:br/>
            <a:r>
              <a:t>• Finalizing conference/journal manuscript for publication.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640080"/>
            <a:ext cx="10728655" cy="5577840"/>
          </a:xfrm>
          <a:prstGeom prst="roundRect">
            <a:avLst/>
          </a:prstGeom>
          <a:solidFill>
            <a:srgbClr val="161E31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097280"/>
            <a:ext cx="9966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8FAFC"/>
                </a:solidFill>
              </a:defRPr>
            </a:pPr>
            <a:r>
              <a:t>Thank You!</a:t>
            </a:r>
          </a:p>
          <a:p>
            <a:pPr>
              <a:defRPr sz="1600">
                <a:solidFill>
                  <a:srgbClr val="06B6D4"/>
                </a:solidFill>
              </a:defRPr>
            </a:pPr>
            <a:r>
              <a:t>Homomorphic Encryption Using Quantum-dot Cellular Automata (QCA)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468880"/>
            <a:ext cx="9966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59E0B"/>
                </a:solidFill>
              </a:defRPr>
            </a:pPr>
            <a:r>
              <a:t>MidTerm 1 Summary of Achievements:</a:t>
            </a:r>
          </a:p>
          <a:p>
            <a:pPr>
              <a:defRPr sz="1100">
                <a:solidFill>
                  <a:srgbClr val="E2E8F0"/>
                </a:solidFill>
              </a:defRPr>
            </a:pPr>
            <a:r>
              <a:t>•  11 Synthesized &amp; Simulated QCA Netlists in QCADesigner 2.0.3 (AND, OR, NOT, NAND, NOR, XOR, HA, FA, RCA-4, Mul-2x2, Mod-Adder).</a:t>
            </a:r>
          </a:p>
          <a:p>
            <a:pPr>
              <a:defRPr sz="1100">
                <a:solidFill>
                  <a:srgbClr val="E2E8F0"/>
                </a:solidFill>
              </a:defRPr>
            </a:pPr>
            <a:r>
              <a:t>•  100% Resolution of All Phase-1 Declared Future Work Objectives.</a:t>
            </a:r>
          </a:p>
          <a:p>
            <a:pPr>
              <a:defRPr sz="1100">
                <a:solidFill>
                  <a:srgbClr val="E2E8F0"/>
                </a:solidFill>
              </a:defRPr>
            </a:pPr>
            <a:r>
              <a:t>•  Verified Python Demonstration of Paillier &amp; RSA Homomorphic Cryptography.</a:t>
            </a:r>
          </a:p>
          <a:p>
            <a:pPr>
              <a:defRPr sz="1100">
                <a:solidFill>
                  <a:srgbClr val="E2E8F0"/>
                </a:solidFill>
              </a:defRPr>
            </a:pPr>
            <a:r>
              <a:t>•  Formal Six-Layer Architecture Bridging Cloud Encryption to Physical QCA Cells.</a:t>
            </a:r>
          </a:p>
          <a:p>
            <a:pPr>
              <a:defRPr sz="1100">
                <a:solidFill>
                  <a:srgbClr val="E2E8F0"/>
                </a:solidFill>
              </a:defRPr>
            </a:pPr>
            <a:r>
              <a:t>•  6.5x Area Footprint Advantage and &gt;10,000x Static Power Reduction Over CMOS.</a:t>
            </a:r>
          </a:p>
          <a:p>
            <a:pPr>
              <a:defRPr sz="1100">
                <a:solidFill>
                  <a:srgbClr val="E2E8F0"/>
                </a:solidFill>
              </a:defRPr>
            </a:pPr>
            <a:r>
              <a:t>•  Pass Rate: 82/82 Automated Verification Unit Tests.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4754880"/>
            <a:ext cx="99669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0B981"/>
                </a:solidFill>
              </a:defRPr>
            </a:pPr>
            <a:r>
              <a:t>We welcome questions, suggestions, and feedback from the respected panel members.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Student Investigators: Subhadip Dutta &amp; SK Mimraj  |  Supervisor: Dr. Jadav Chandra Das  |  MAKAUT IT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